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Inter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4916aedf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4916aedf3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1" Type="http://schemas.openxmlformats.org/officeDocument/2006/relationships/image" Target="../media/image8.png"/><Relationship Id="rId10" Type="http://schemas.openxmlformats.org/officeDocument/2006/relationships/image" Target="../media/image4.png"/><Relationship Id="rId12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1" Type="http://schemas.openxmlformats.org/officeDocument/2006/relationships/image" Target="../media/image31.png"/><Relationship Id="rId10" Type="http://schemas.openxmlformats.org/officeDocument/2006/relationships/image" Target="../media/image26.png"/><Relationship Id="rId12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00425" y="2611398"/>
            <a:ext cx="9191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Configurable Multimodal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Semantic Validation System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193" y="524977"/>
            <a:ext cx="1775625" cy="17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 flipH="1" rot="10800000">
            <a:off x="4291800" y="5041430"/>
            <a:ext cx="3608400" cy="2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676525" y="4365983"/>
            <a:ext cx="714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Document vs. Document Validation using GenAI &amp; Multimodal NLP</a:t>
            </a:r>
            <a:endParaRPr/>
          </a:p>
        </p:txBody>
      </p:sp>
      <p:grpSp>
        <p:nvGrpSpPr>
          <p:cNvPr id="89" name="Google Shape;89;p13"/>
          <p:cNvGrpSpPr/>
          <p:nvPr/>
        </p:nvGrpSpPr>
        <p:grpSpPr>
          <a:xfrm>
            <a:off x="2408458" y="5411296"/>
            <a:ext cx="3765604" cy="730275"/>
            <a:chOff x="685971" y="4911675"/>
            <a:chExt cx="3765604" cy="730275"/>
          </a:xfrm>
        </p:grpSpPr>
        <p:sp>
          <p:nvSpPr>
            <p:cNvPr id="90" name="Google Shape;90;p13"/>
            <p:cNvSpPr txBox="1"/>
            <p:nvPr/>
          </p:nvSpPr>
          <p:spPr>
            <a:xfrm>
              <a:off x="685975" y="4911675"/>
              <a:ext cx="376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Mallesh Mayara (21f2001118)</a:t>
              </a:r>
              <a:endParaRPr b="1"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685971" y="5364750"/>
              <a:ext cx="376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Karthik Ganesh (21f2000775)</a:t>
              </a:r>
              <a:endParaRPr b="1"/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6017931" y="5411296"/>
            <a:ext cx="3765604" cy="730275"/>
            <a:chOff x="4295444" y="4911675"/>
            <a:chExt cx="3765604" cy="730275"/>
          </a:xfrm>
        </p:grpSpPr>
        <p:sp>
          <p:nvSpPr>
            <p:cNvPr id="93" name="Google Shape;93;p13"/>
            <p:cNvSpPr txBox="1"/>
            <p:nvPr/>
          </p:nvSpPr>
          <p:spPr>
            <a:xfrm>
              <a:off x="4295448" y="4911675"/>
              <a:ext cx="376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Mayank Dode</a:t>
              </a: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(</a:t>
              </a: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22f1000781</a:t>
              </a: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1"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4295444" y="5364750"/>
              <a:ext cx="376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Ayush Verma</a:t>
              </a: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(</a:t>
              </a: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21f3000500</a:t>
              </a: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1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38200" y="1966912"/>
            <a:ext cx="4972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Organizations face major bottlenecks validating critical information across heterogeneous documents.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728912"/>
            <a:ext cx="4972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Multimodal Complexity: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Crucial information is locked in complex visual layouts, scanned images, and tables.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8200" y="3776662"/>
            <a:ext cx="4972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Semantically Diverse: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Different terms are used for identical concepts (e.g., "Net 30" vs. "Payment due in one month").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4824412"/>
            <a:ext cx="4972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Structurally Inconsistent: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Target information shifts across different sections depending entirely on the document type.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1909762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2671762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3719512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767262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 Background</a:t>
            </a:r>
            <a:endParaRPr/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100" y="2488314"/>
            <a:ext cx="4972050" cy="288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38750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52575"/>
            <a:ext cx="523875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62025" y="194310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Rigid &amp; Fragile Frameworks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24955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validation systems rely heavily on exact string matching or rigid rule-based templates that fail when encountering minor structural shifts.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38671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Furthermore, traditional pipelines use separate OCR engines, which convert complex visual structures into messy raw text and completely lose layout context.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72275" y="194310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Narrow Utility Tools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24955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tools available in the market today are highly restrictive and fall into two limited categories: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72275" y="35623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"Point Solutions"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designed for a single, narrow task (e.g., exclusively processing invoices).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72275" y="43243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"Simple Diff Tools"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capable only of highlighting basic text changes without any actual semantic understanding.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Limitations of Current Solutions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762000"/>
            <a:ext cx="530066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Proposed Solution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1743075"/>
            <a:ext cx="5048250" cy="106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Generalized, Config-Driven Document-to-Document Validation System directly powered by Multimodal Large Language Models.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3040112"/>
            <a:ext cx="5048250" cy="1424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User-Defined Entity Configuration Layer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where domain experts can explicitly define validation targets, semantic descriptions, and provide few-shot examples.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693294"/>
            <a:ext cx="5048250" cy="178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Achieves high performance and domain-agnostic capabilities through Contextual Prompt Engineering and Configuration-Based Grounding, entirely eliminating the need for expensive model fine-tuning.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7954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67954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67954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584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66775" y="334907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Ingestion &amp; Perception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66775" y="3834854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Multimodal LLMs perform layout-aware parsing on both Scanned and E-printed PDFs, perfectly preserving visual relationships without requiring a separate OCR engine.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584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4645074" y="334907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Config-Driven Extraction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45074" y="3834854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intelligently reads a user-provided JSON/YAML configuration file outlining specific Entity Names and semantic Entity Descriptions for extraction.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584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423374" y="334907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Semantic Reasoning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3374" y="3834854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Employs Chain-of-Thought (CoT) reasoning to compare extracted values based on the underlying business logic rather than relying on simple distance metrics.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462" y="25489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83199" y="2548979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3874" y="254897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Workflow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189845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For every processed field, the system generates precise, actionable outputs: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8200" y="2797373"/>
            <a:ext cx="4972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 Status: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Categorized strictly into defined states: Match, Mismatch, Partial Match, or Ineligible (if missing).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38200" y="3845123"/>
            <a:ext cx="4972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Reasoning Output: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clear, natural language explanation detailing the AI's step-by-step decision process for transparency.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38200" y="4892873"/>
            <a:ext cx="4972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Confidence Score: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precise 0-1 metric indicating the model's certainty, used directly for triggering human-in-the-loop workflows.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240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2740223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3787973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4835723"/>
            <a:ext cx="17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Validation Output &amp; Metrics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143000" y="1679674"/>
            <a:ext cx="8953500" cy="1112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Evidence Grounding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ensure enterprise-grade reliability, every extraction must explicitly include source document citations or coordinate locations, enabling rapid human-in-the-loop verification.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143000" y="3172866"/>
            <a:ext cx="8953500" cy="1112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Strict Instruction Set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LLM operates under a "Restricted Output Schema." It is heavily penalized for hallucinations or making assumptions outside the strictly provided document context.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43000" y="4666059"/>
            <a:ext cx="8953500" cy="1112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Confidence Thresholding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Validations falling below a pre-set certainty score (e.g., 0.85) are automatically flagged and routed for manual review, effectively managing and mitigating false positives.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8249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1441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94634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Ensuring Reliability &amp; Trust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7954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67954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67954"/>
            <a:ext cx="3492549" cy="390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584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866775" y="334907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Control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66775" y="3834854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a low-code configuration layer allowing a non-technical user to adapt the tool from a "Legal Contract Reviewer" to a "Medical Claim Validator" in minutes.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584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645074" y="334907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Semantic Intelligence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645074" y="3834854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Moves far beyond "Search &amp; Find" to true "Understand &amp; Validate," easily handling complex cross-lingual and cross-terminology discrepancies.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584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423374" y="334907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Multimodal Native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423374" y="3834854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Designed from the ground up to handle scanned images and complex table structures directly as visual inputs rather than converting them to messy raw text.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5489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83199" y="2548979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3874" y="254897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Differentiators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368525" y="31866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