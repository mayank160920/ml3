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DB16F9-D48B-4D51-8467-B13E2BC71D30}" v="38" dt="2026-03-07T07:55:42.071"/>
    <p1510:client id="{A11403DE-82D6-4747-84BE-06ECE4D47BFF}" v="242" dt="2026-03-07T07:51:09.923"/>
    <p1510:client id="{D24A8E20-72ED-43F2-AD95-E530DE9FAB03}" v="415" dt="2026-03-07T08:30:37.091"/>
    <p1510:client id="{F26118E2-EDED-D0E3-C38F-459ACC076555}" v="3" dt="2026-03-07T09:21:42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5E48CA9F-7413-7513-1CD8-283641F61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agnifying glass over a file folder&#10;&#10;AI-generated content may be incorrect.">
            <a:extLst>
              <a:ext uri="{FF2B5EF4-FFF2-40B4-BE49-F238E27FC236}">
                <a16:creationId xmlns:a16="http://schemas.microsoft.com/office/drawing/2014/main" id="{DCDB5C90-9510-6A7E-6506-242C82060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55" r="6984" b="-1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95302-E617-3EE1-11D6-59ABA93E7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anchor="ctr">
            <a:normAutofit/>
          </a:bodyPr>
          <a:lstStyle/>
          <a:p>
            <a:br>
              <a:rPr lang="en-US" sz="3400">
                <a:latin typeface="Aptos Display"/>
              </a:rPr>
            </a:br>
            <a:r>
              <a:rPr lang="en-US" sz="3400">
                <a:latin typeface="Aptos Display"/>
              </a:rPr>
              <a:t>Milestone Objective</a:t>
            </a:r>
            <a:endParaRPr lang="en-US" sz="3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29C7B-6F93-E21C-0E49-CC6B6BEE0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522949"/>
            <a:ext cx="5065776" cy="34023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/>
              <a:t>Prepare datasets required to evaluate a system that can perform :</a:t>
            </a:r>
          </a:p>
          <a:p>
            <a:r>
              <a:rPr lang="en-US" sz="1400"/>
              <a:t>Document entity extraction</a:t>
            </a:r>
          </a:p>
          <a:p>
            <a:r>
              <a:rPr lang="en-US" sz="1400"/>
              <a:t>Cross-document validation</a:t>
            </a:r>
          </a:p>
          <a:p>
            <a:r>
              <a:rPr lang="en-US" sz="1400"/>
              <a:t>Semantic equivalence detection</a:t>
            </a:r>
          </a:p>
          <a:p>
            <a:r>
              <a:rPr lang="en-US" sz="1400"/>
              <a:t>Numeric normalization</a:t>
            </a:r>
          </a:p>
          <a:p>
            <a:r>
              <a:rPr lang="en-US" sz="1400"/>
              <a:t>Conflict detection</a:t>
            </a:r>
          </a:p>
          <a:p>
            <a:endParaRPr lang="en-US" sz="1400"/>
          </a:p>
          <a:p>
            <a:pPr marL="0" indent="0">
              <a:buNone/>
            </a:pPr>
            <a:r>
              <a:rPr lang="en-US" sz="1400" b="1"/>
              <a:t>Two datasets were prepared to support these tasks:</a:t>
            </a:r>
          </a:p>
          <a:p>
            <a:pPr marL="457200" lvl="1" indent="0">
              <a:buNone/>
            </a:pPr>
            <a:r>
              <a:rPr lang="en-US" sz="1400"/>
              <a:t>1.⁠ ⁠FUNSD Dataset</a:t>
            </a:r>
          </a:p>
          <a:p>
            <a:pPr marL="457200" lvl="1" indent="0">
              <a:buNone/>
            </a:pPr>
            <a:r>
              <a:rPr lang="en-US" sz="1400"/>
              <a:t>2.⁠ ⁠Healthcare SBC &amp; Benefit Grid Dataset</a:t>
            </a:r>
          </a:p>
        </p:txBody>
      </p:sp>
    </p:spTree>
    <p:extLst>
      <p:ext uri="{BB962C8B-B14F-4D97-AF65-F5344CB8AC3E}">
        <p14:creationId xmlns:p14="http://schemas.microsoft.com/office/powerpoint/2010/main" val="476312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F7EE2-9042-F1A9-B293-CE687F104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Dataset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294D5-F213-CD71-0A69-CDCF986E5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80" y="1805461"/>
            <a:ext cx="6002110" cy="45160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Two complementary datasets were used:</a:t>
            </a:r>
          </a:p>
          <a:p>
            <a:endParaRPr lang="en-US"/>
          </a:p>
          <a:p>
            <a:r>
              <a:rPr lang="en-US" b="1"/>
              <a:t>1.⁠ ⁠FUNSD Dataset</a:t>
            </a:r>
          </a:p>
          <a:p>
            <a:pPr marL="342900" indent="-285750">
              <a:buChar char="•"/>
            </a:pPr>
            <a:r>
              <a:rPr lang="en-US"/>
              <a:t>Form understanding</a:t>
            </a:r>
          </a:p>
          <a:p>
            <a:pPr marL="342900" indent="-285750">
              <a:buChar char="•"/>
            </a:pPr>
            <a:r>
              <a:rPr lang="en-US"/>
              <a:t>Key-value extraction</a:t>
            </a:r>
          </a:p>
          <a:p>
            <a:pPr marL="342900" indent="-285750">
              <a:buChar char="•"/>
            </a:pPr>
            <a:r>
              <a:rPr lang="en-US"/>
              <a:t>Document entity recognition</a:t>
            </a:r>
          </a:p>
          <a:p>
            <a:endParaRPr lang="en-US"/>
          </a:p>
          <a:p>
            <a:r>
              <a:rPr lang="en-US" b="1"/>
              <a:t>2.⁠ ⁠SBC &amp; Benefit Grid Dataset</a:t>
            </a:r>
          </a:p>
          <a:p>
            <a:pPr marL="342900" indent="-285750">
              <a:buChar char="•"/>
            </a:pPr>
            <a:r>
              <a:rPr lang="en-US"/>
              <a:t>Cross-document validation</a:t>
            </a:r>
          </a:p>
          <a:p>
            <a:pPr marL="342900" indent="-285750">
              <a:buChar char="•"/>
            </a:pPr>
            <a:r>
              <a:rPr lang="en-US"/>
              <a:t>Coverage comparison</a:t>
            </a:r>
          </a:p>
          <a:p>
            <a:pPr marL="342900" indent="-285750">
              <a:buChar char="•"/>
            </a:pPr>
            <a:r>
              <a:rPr lang="en-US"/>
              <a:t>Cost-sharing verification</a:t>
            </a:r>
          </a:p>
          <a:p>
            <a:endParaRPr lang="en-US"/>
          </a:p>
          <a:p>
            <a:r>
              <a:rPr lang="en-US"/>
              <a:t>Together they simulate real-world document validation workflows.</a:t>
            </a:r>
          </a:p>
          <a:p>
            <a:endParaRPr lang="en-US"/>
          </a:p>
        </p:txBody>
      </p:sp>
      <p:pic>
        <p:nvPicPr>
          <p:cNvPr id="5" name="Content Placeholder 4" descr="FUNSD">
            <a:extLst>
              <a:ext uri="{FF2B5EF4-FFF2-40B4-BE49-F238E27FC236}">
                <a16:creationId xmlns:a16="http://schemas.microsoft.com/office/drawing/2014/main" id="{EE77DA32-0C87-32AD-2D90-0D67C5F80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0" t="1294" r="54214" b="-1295"/>
          <a:stretch>
            <a:fillRect/>
          </a:stretch>
        </p:blipFill>
        <p:spPr>
          <a:xfrm>
            <a:off x="6979681" y="10"/>
            <a:ext cx="4994304" cy="68579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0198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F7DFA-51D4-BF4E-BAF1-EFAF281FC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FUNSD Dataset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41557-DF93-664E-9856-FB361D0AA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7181" y="2807208"/>
            <a:ext cx="5246557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/>
              <a:t>FUNSD (Form Understanding in Noisy Scanned Documents)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/>
          </a:p>
          <a:p>
            <a:r>
              <a:rPr lang="en-US" sz="1900"/>
              <a:t>Key characteristics: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Scanned form documents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Layout-aware annotations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Key-value entity pairs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Real-world document noise</a:t>
            </a:r>
          </a:p>
        </p:txBody>
      </p:sp>
      <p:pic>
        <p:nvPicPr>
          <p:cNvPr id="8" name="Content Placeholder 4" descr="FUNSD">
            <a:extLst>
              <a:ext uri="{FF2B5EF4-FFF2-40B4-BE49-F238E27FC236}">
                <a16:creationId xmlns:a16="http://schemas.microsoft.com/office/drawing/2014/main" id="{A048B46D-F340-CC28-1B3D-C8E574C3E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" t="1294" r="54214" b="-1295"/>
          <a:stretch>
            <a:fillRect/>
          </a:stretch>
        </p:blipFill>
        <p:spPr>
          <a:xfrm>
            <a:off x="6075129" y="640080"/>
            <a:ext cx="406205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4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AA8D-43E7-77F2-A0EA-1049B5D1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FUNSD DATA PREPARATION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897AA-C526-9796-EEFF-2561000D5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944072" cy="451112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ea typeface="+mn-lt"/>
                <a:cs typeface="+mn-lt"/>
              </a:rPr>
              <a:t>Steps performed: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1.⁠ ⁠Selected sample documents from FUNSD dataset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2.⁠ ⁠Identified logical document sections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3.⁠ ⁠Defined entity groups within each section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Example entities: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Name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Address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Date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Numeric values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Identifiers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Prepared dataset for entity extraction experiments.</a:t>
            </a:r>
            <a:endParaRPr lang="en-US"/>
          </a:p>
        </p:txBody>
      </p:sp>
      <p:pic>
        <p:nvPicPr>
          <p:cNvPr id="6" name="Content Placeholder 4" descr="FUNSD">
            <a:extLst>
              <a:ext uri="{FF2B5EF4-FFF2-40B4-BE49-F238E27FC236}">
                <a16:creationId xmlns:a16="http://schemas.microsoft.com/office/drawing/2014/main" id="{282FD8A4-1F78-FE55-5551-E975346D35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" t="1294" r="54214" b="-1295"/>
          <a:stretch>
            <a:fillRect/>
          </a:stretch>
        </p:blipFill>
        <p:spPr>
          <a:xfrm>
            <a:off x="6430042" y="10"/>
            <a:ext cx="4994304" cy="68579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21303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45A0-D99A-2E8A-E977-6EB86D0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FUNSD Data Augmentation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09FC4-F13E-6C29-693A-C97B7AB60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To simulate real-world document variations: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Several modifications were introduced: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Synonym replacement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Numeric format variations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Layout modifications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OCR-style noise</a:t>
            </a:r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Examples: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11% → 0.11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Interest Rate → Applicable Interest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Purpose:</a:t>
            </a:r>
            <a:r>
              <a:rPr lang="en-US">
                <a:ea typeface="+mn-lt"/>
                <a:cs typeface="+mn-lt"/>
              </a:rPr>
              <a:t> Test robustness of entity extraction models.</a:t>
            </a:r>
            <a:endParaRPr lang="en-US"/>
          </a:p>
          <a:p>
            <a:endParaRPr lang="en-US"/>
          </a:p>
        </p:txBody>
      </p:sp>
      <p:pic>
        <p:nvPicPr>
          <p:cNvPr id="5" name="Content Placeholder 4" descr="FUNSD">
            <a:extLst>
              <a:ext uri="{FF2B5EF4-FFF2-40B4-BE49-F238E27FC236}">
                <a16:creationId xmlns:a16="http://schemas.microsoft.com/office/drawing/2014/main" id="{E2A64A1B-13DE-A9A0-B336-28E06444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" t="1294" r="54214" b="-1295"/>
          <a:stretch>
            <a:fillRect/>
          </a:stretch>
        </p:blipFill>
        <p:spPr>
          <a:xfrm>
            <a:off x="7199440" y="147971"/>
            <a:ext cx="4994304" cy="68579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1979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D861-2134-9768-8E4B-997D7619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document&#10;&#10;AI-generated content may be incorrect.">
            <a:extLst>
              <a:ext uri="{FF2B5EF4-FFF2-40B4-BE49-F238E27FC236}">
                <a16:creationId xmlns:a16="http://schemas.microsoft.com/office/drawing/2014/main" id="{32DACF27-4031-9676-6B07-FE8EBEAC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77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4575F-61EA-B2AB-48D3-94244E9A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SBC Dataset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F297D-2DCA-FF24-BE7C-F01F53BB7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808"/>
            <a:ext cx="3822189" cy="442356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Summary of Benefits and Coverage (SBC) documents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Healthcare insurance documents containing:</a:t>
            </a:r>
          </a:p>
          <a:p>
            <a:r>
              <a:rPr lang="en-US" sz="1600">
                <a:ea typeface="+mn-lt"/>
                <a:cs typeface="+mn-lt"/>
              </a:rPr>
              <a:t>Coverage information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Cost-sharing details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Healthcare service descriptions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Typical document size: 2 to 11 pages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These documents serve as Doc A in the dataset.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D4A4ED-554D-D74F-E7EA-DE33930222BE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79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DDBAB-319F-CB00-C909-9603F8C8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F012-8CCB-6169-378B-615FB3F3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SBC Data Collection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1BD7-BC58-211F-7547-496599623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SBC documents were collected by searching for: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Highmark PPO insurance plans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Challenges encountered: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Duplicate documents</a:t>
            </a:r>
          </a:p>
          <a:p>
            <a:r>
              <a:rPr lang="en-US">
                <a:ea typeface="+mn-lt"/>
                <a:cs typeface="+mn-lt"/>
              </a:rPr>
              <a:t>Different formatting styles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Solutions: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Searching across plan tiers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Gold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Silver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Bronze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Using multiple plan identifiers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Total collected: 20 SBC documents</a:t>
            </a:r>
          </a:p>
          <a:p>
            <a:pPr>
              <a:buNone/>
            </a:pPr>
            <a:endParaRPr lang="en-US"/>
          </a:p>
        </p:txBody>
      </p:sp>
      <p:pic>
        <p:nvPicPr>
          <p:cNvPr id="9" name="Picture 8" descr="Gold Silver Bronze Coin Aave Concept 库存矢量图（免版税）2147178129 | Shutterstock">
            <a:extLst>
              <a:ext uri="{FF2B5EF4-FFF2-40B4-BE49-F238E27FC236}">
                <a16:creationId xmlns:a16="http://schemas.microsoft.com/office/drawing/2014/main" id="{E78EE423-B770-4286-7D13-73E3BEFCC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" b="8683"/>
          <a:stretch>
            <a:fillRect/>
          </a:stretch>
        </p:blipFill>
        <p:spPr>
          <a:xfrm>
            <a:off x="5316246" y="2809740"/>
            <a:ext cx="6249879" cy="225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0BF05A0-07C3-4D92-0F62-F3FE68FDAA2E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10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5865A-4B52-18E3-148F-6D75D640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2D8F-C8C1-7AF2-E932-7D2E104D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Benefit Grid Creation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BC7A3-5163-E3A5-1DD0-AD232631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2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To standardize SBC information: A Benefit Grid template was created.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The grid includes columns for:</a:t>
            </a:r>
          </a:p>
          <a:p>
            <a:pPr marL="285750" indent="-285750"/>
            <a:r>
              <a:rPr lang="en-US" sz="1600">
                <a:ea typeface="+mn-lt"/>
                <a:cs typeface="+mn-lt"/>
              </a:rPr>
              <a:t>Service Name</a:t>
            </a:r>
            <a:endParaRPr lang="en-US" sz="1600"/>
          </a:p>
          <a:p>
            <a:pPr marL="285750" indent="-285750"/>
            <a:r>
              <a:rPr lang="en-US" sz="1600">
                <a:ea typeface="+mn-lt"/>
                <a:cs typeface="+mn-lt"/>
              </a:rPr>
              <a:t>In-Network Cost</a:t>
            </a:r>
            <a:endParaRPr lang="en-US" sz="1600"/>
          </a:p>
          <a:p>
            <a:pPr marL="285750" indent="-285750"/>
            <a:r>
              <a:rPr lang="en-US" sz="1600">
                <a:ea typeface="+mn-lt"/>
                <a:cs typeface="+mn-lt"/>
              </a:rPr>
              <a:t>Out-of-Network Cost</a:t>
            </a:r>
            <a:endParaRPr lang="en-US" sz="1600"/>
          </a:p>
          <a:p>
            <a:pPr marL="285750" indent="-285750"/>
            <a:r>
              <a:rPr lang="en-US" sz="1600">
                <a:ea typeface="+mn-lt"/>
                <a:cs typeface="+mn-lt"/>
              </a:rPr>
              <a:t>Notes</a:t>
            </a:r>
            <a:endParaRPr lang="en-US" sz="1600"/>
          </a:p>
          <a:p>
            <a:pPr marL="285750" indent="-285750"/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Example services:</a:t>
            </a:r>
          </a:p>
          <a:p>
            <a:pPr marL="285750" indent="-285750"/>
            <a:r>
              <a:rPr lang="en-US" sz="1600">
                <a:ea typeface="+mn-lt"/>
                <a:cs typeface="+mn-lt"/>
              </a:rPr>
              <a:t>Doctor visits</a:t>
            </a:r>
            <a:endParaRPr lang="en-US" sz="1600"/>
          </a:p>
          <a:p>
            <a:pPr marL="285750" indent="-285750"/>
            <a:r>
              <a:rPr lang="en-US" sz="1600">
                <a:ea typeface="+mn-lt"/>
                <a:cs typeface="+mn-lt"/>
              </a:rPr>
              <a:t>Emergency care</a:t>
            </a:r>
            <a:endParaRPr lang="en-US" sz="1600"/>
          </a:p>
          <a:p>
            <a:pPr marL="285750" indent="-285750"/>
            <a:r>
              <a:rPr lang="en-US" sz="1600">
                <a:ea typeface="+mn-lt"/>
                <a:cs typeface="+mn-lt"/>
              </a:rPr>
              <a:t>Hospital stay</a:t>
            </a:r>
            <a:endParaRPr lang="en-US" sz="1600"/>
          </a:p>
          <a:p>
            <a:pPr marL="285750" indent="-285750"/>
            <a:r>
              <a:rPr lang="en-US" sz="1600">
                <a:ea typeface="+mn-lt"/>
                <a:cs typeface="+mn-lt"/>
              </a:rPr>
              <a:t>Prescription drugs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Each SBC was converted into a Benefit Grid document (Doc B).</a:t>
            </a:r>
            <a:endParaRPr lang="en-US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45EEB3-551E-6ADF-8020-9B8840CE5462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69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6111-48A1-E2DC-52C5-3A46BCBCA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9059-BBDD-5B59-EE4C-C3B3BC41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Document Pair Structure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2B8A6-8DBB-488E-8DF6-F998939A6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Each dataset sample consists of:</a:t>
            </a:r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Doc A: SBC Document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Doc B: Benefit Grid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Example relationship:</a:t>
            </a: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SBC Document → Detailed explanation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Benefit Grid → Structured summary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This structure enables cross-document validation.</a:t>
            </a:r>
            <a:endParaRPr 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7E3F6-BAE0-A289-3ECC-4A651A9EAA9F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50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00571-EB8B-AEE2-80E0-A4E5F838D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BC09-CDD6-B25C-9573-54C67953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Augmentation (Benefit Grid)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D47CA-9DB2-27A2-E4DA-D700E6139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871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Controlled modifications were applied to simulate real-world inconsistencies.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Out of 20 benefit grids:</a:t>
            </a:r>
          </a:p>
          <a:p>
            <a:pPr marL="342900" indent="-342900"/>
            <a:r>
              <a:rPr lang="en-US" sz="1600">
                <a:ea typeface="+mn-lt"/>
                <a:cs typeface="+mn-lt"/>
              </a:rPr>
              <a:t>12 kept unchanged</a:t>
            </a:r>
            <a:endParaRPr lang="en-US" sz="1600"/>
          </a:p>
          <a:p>
            <a:pPr marL="342900" indent="-342900"/>
            <a:r>
              <a:rPr lang="en-US" sz="1600">
                <a:ea typeface="+mn-lt"/>
                <a:cs typeface="+mn-lt"/>
              </a:rPr>
              <a:t>8 intentionally modified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>
              <a:ea typeface="+mn-lt"/>
              <a:cs typeface="+mn-lt"/>
            </a:endParaRPr>
          </a:p>
          <a:p>
            <a:pPr marL="0" indent="0">
              <a:buNone/>
            </a:pPr>
            <a:endParaRPr lang="en-US" sz="1600">
              <a:ea typeface="+mn-lt"/>
              <a:cs typeface="+mn-lt"/>
            </a:endParaRPr>
          </a:p>
          <a:p>
            <a:pPr marL="0" indent="0">
              <a:buNone/>
            </a:pPr>
            <a:endParaRPr lang="en-US" sz="1600">
              <a:ea typeface="+mn-lt"/>
              <a:cs typeface="+mn-lt"/>
            </a:endParaRPr>
          </a:p>
          <a:p>
            <a:pPr marL="0" indent="0">
              <a:buNone/>
            </a:pPr>
            <a:endParaRPr lang="en-US" sz="16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Modifications were applied using PDF editing tools.</a:t>
            </a:r>
          </a:p>
          <a:p>
            <a:pPr marL="0" indent="0">
              <a:buNone/>
            </a:pPr>
            <a:endParaRPr 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DE91B7-5764-DC13-4AAA-349274569D40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77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249A-7FC1-38A9-9E8F-BC082F6C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86DD-71C0-4BE3-BA3C-DA493040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Augmentation Types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83E5C-2FBF-CAF8-EE52-9492C2EFC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871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Semantic Changes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Example: "No charge" → "Covered in full"</a:t>
            </a:r>
            <a:endParaRPr lang="en-US" sz="1600"/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Numeric Format Changes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Example: "$6,550" → "6550"</a:t>
            </a:r>
            <a:endParaRPr lang="en-US" sz="1600"/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Value Conflicts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Example: "$525 copay" → "$400 copay"</a:t>
            </a:r>
            <a:endParaRPr lang="en-US" sz="1600"/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Coverage Changes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Example: "$30 copay" → "Fully covered"</a:t>
            </a:r>
            <a:endParaRPr lang="en-US" sz="1600"/>
          </a:p>
          <a:p>
            <a:pPr marL="0" indent="0">
              <a:buNone/>
            </a:pPr>
            <a:endParaRPr 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5DEBE7-60E2-E638-4E3F-57B17C7B414A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85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23333-3C72-42CA-868C-F18E58877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12AE-09F3-552F-6DB0-8A44124EA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Ground Truth JSON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E35BD-55BB-26F9-8ED9-9A50DE08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871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Ground truth JSON files were created for augmented document pairs.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Each JSON contains:</a:t>
            </a:r>
          </a:p>
          <a:p>
            <a:r>
              <a:rPr lang="en-US" sz="1600">
                <a:ea typeface="+mn-lt"/>
                <a:cs typeface="+mn-lt"/>
              </a:rPr>
              <a:t>Entity name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Value in Doc A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Value in Doc B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Normalized value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Validation type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Match or mismatch result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Also includes perturbation logs to track modifications.</a:t>
            </a:r>
            <a:endParaRPr 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B1C0B-849B-20AD-2686-15E00FF56C55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21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8FEE3-96A3-8066-94F8-AA037D24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0151-151C-8D39-2A86-4B9DF452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Validation Scenarios Covered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29B6F-ECAD-6EEE-9760-8D19EC558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871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Dataset supports multiple validation cases:</a:t>
            </a:r>
            <a:endParaRPr lang="en-US" sz="1600"/>
          </a:p>
          <a:p>
            <a:pPr marL="457200" lvl="1" indent="0">
              <a:buNone/>
            </a:pPr>
            <a:r>
              <a:rPr lang="en-US" sz="1600">
                <a:ea typeface="+mn-lt"/>
                <a:cs typeface="+mn-lt"/>
              </a:rPr>
              <a:t>1.⁠ ⁠Exact Match</a:t>
            </a:r>
            <a:endParaRPr lang="en-US" sz="1600"/>
          </a:p>
          <a:p>
            <a:pPr marL="457200" lvl="1" indent="0">
              <a:buNone/>
            </a:pPr>
            <a:r>
              <a:rPr lang="en-US" sz="1600">
                <a:ea typeface="+mn-lt"/>
                <a:cs typeface="+mn-lt"/>
              </a:rPr>
              <a:t>2.⁠ ⁠Semantic Equivalence</a:t>
            </a:r>
            <a:endParaRPr lang="en-US" sz="1600"/>
          </a:p>
          <a:p>
            <a:pPr marL="457200" lvl="1" indent="0">
              <a:buNone/>
            </a:pPr>
            <a:r>
              <a:rPr lang="en-US" sz="1600">
                <a:ea typeface="+mn-lt"/>
                <a:cs typeface="+mn-lt"/>
              </a:rPr>
              <a:t>3.⁠ ⁠Numeric Normalization</a:t>
            </a:r>
            <a:endParaRPr lang="en-US" sz="1600"/>
          </a:p>
          <a:p>
            <a:pPr marL="457200" lvl="1" indent="0">
              <a:buNone/>
            </a:pPr>
            <a:r>
              <a:rPr lang="en-US" sz="1600">
                <a:ea typeface="+mn-lt"/>
                <a:cs typeface="+mn-lt"/>
              </a:rPr>
              <a:t>4.⁠ ⁠OCR Noise Handling</a:t>
            </a:r>
            <a:endParaRPr lang="en-US" sz="1600"/>
          </a:p>
          <a:p>
            <a:pPr marL="457200" lvl="1" indent="0">
              <a:buNone/>
            </a:pPr>
            <a:r>
              <a:rPr lang="en-US" sz="1600">
                <a:ea typeface="+mn-lt"/>
                <a:cs typeface="+mn-lt"/>
              </a:rPr>
              <a:t>5.⁠ ⁠Conflict Detection</a:t>
            </a:r>
            <a:endParaRPr lang="en-US" sz="1600"/>
          </a:p>
          <a:p>
            <a:pPr marL="457200" lvl="1" indent="0">
              <a:buNone/>
            </a:pPr>
            <a:r>
              <a:rPr lang="en-US" sz="1600">
                <a:ea typeface="+mn-lt"/>
                <a:cs typeface="+mn-lt"/>
              </a:rPr>
              <a:t>6.⁠ ⁠Coverage Change Detection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These scenarios represent real-world document inconsistencies.</a:t>
            </a:r>
          </a:p>
          <a:p>
            <a:pPr>
              <a:buNone/>
            </a:pPr>
            <a:endParaRPr lang="en-US" sz="1600"/>
          </a:p>
          <a:p>
            <a:pPr>
              <a:buNone/>
            </a:pPr>
            <a:endParaRPr 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65BFD8-52AC-1324-AEFB-26551D2A78F7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03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B3ABE-4833-9103-BCDC-835EFAA2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39524-9E39-81E3-D428-A26108F3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Dataset Output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9715-E8FA-0236-ED5D-D647C2792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871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Final dataset produced:</a:t>
            </a: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Dataset Component                                 Count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FUNSD Samples                                        Multiple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SBC Documents (Doc A)                        20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Benefit Grid Documents (Doc B)        20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Ground Truth JSON Files                         8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This dataset supports both: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Entity extraction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Cross-document validation</a:t>
            </a:r>
            <a:endParaRPr lang="en-US"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A647A-3C56-4725-2C48-B8FA5749C097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09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0E4F2-BE52-2CC8-18A7-7EB5E6B43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097C-DCE9-694F-8888-E716BF84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Challenges Faced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FD6C-2ED4-FC06-CDB0-C32215ABF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871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During dataset preparation:</a:t>
            </a:r>
          </a:p>
          <a:p>
            <a:r>
              <a:rPr lang="en-US" sz="1600">
                <a:ea typeface="+mn-lt"/>
                <a:cs typeface="+mn-lt"/>
              </a:rPr>
              <a:t>Duplicate Documents Many identical SBC files online.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Complex Tables Multiple network tiers in SBC tables.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Formatting Issues PDF extraction caused misaligned columns.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Ambiguous Service Descriptions Some rows combined multiple services.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Manual verification was performed to resolve these issues.</a:t>
            </a:r>
            <a:endParaRPr 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AAE732-DB2D-E5F4-810B-89EA56A972B3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8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F0A01-DA81-BF32-081C-9C3E687F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56DD-8861-25C2-DC3C-BFE66DAD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Team Contributions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0033E-F292-2EFC-FED2-82F4476C6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871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Karthik</a:t>
            </a:r>
            <a:endParaRPr lang="en-US" sz="1600" b="1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Researched the validation use case, Identified FUNSD and SBC </a:t>
            </a:r>
            <a:r>
              <a:rPr lang="en-US" sz="1600" err="1">
                <a:ea typeface="+mn-lt"/>
                <a:cs typeface="+mn-lt"/>
              </a:rPr>
              <a:t>datasets,Designed</a:t>
            </a:r>
            <a:r>
              <a:rPr lang="en-US" sz="1600">
                <a:ea typeface="+mn-lt"/>
                <a:cs typeface="+mn-lt"/>
              </a:rPr>
              <a:t> augmentation scenarios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Mayank</a:t>
            </a:r>
            <a:endParaRPr lang="en-US" sz="1600" b="1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Worked on FUNSD data augmentation, Created modified document samples</a:t>
            </a: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Ashish</a:t>
            </a:r>
            <a:endParaRPr lang="en-US" sz="1600" b="1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Performed SBC and Benefit Grid augmentation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Generated ground truth JSON files</a:t>
            </a:r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Mallesh</a:t>
            </a:r>
            <a:endParaRPr lang="en-US" sz="1600" b="1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Documentation.</a:t>
            </a:r>
          </a:p>
          <a:p>
            <a:pPr>
              <a:buNone/>
            </a:pPr>
            <a:endParaRPr lang="en-US" sz="1600"/>
          </a:p>
          <a:p>
            <a:pPr>
              <a:buNone/>
            </a:pPr>
            <a:endParaRPr lang="en-US" sz="1600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41E6C-5CCE-E9CF-1E7D-11603B33A7C7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79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1949-9DE1-43AB-C54D-1DF08C90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043D-D122-0AC6-BCA1-7912D288B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Milestone Summary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63B31-8B7B-C745-8D10-8E898252D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871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Milestone 2 successfully achieved:</a:t>
            </a:r>
            <a:endParaRPr lang="en-US" sz="1600"/>
          </a:p>
          <a:p>
            <a:pPr>
              <a:buFont typeface="Wingdings" panose="020B0604020202020204" pitchFamily="34" charset="0"/>
              <a:buChar char="ü"/>
            </a:pPr>
            <a:r>
              <a:rPr lang="en-US" sz="1600">
                <a:solidFill>
                  <a:schemeClr val="accent6"/>
                </a:solidFill>
                <a:ea typeface="+mn-lt"/>
                <a:cs typeface="+mn-lt"/>
              </a:rPr>
              <a:t>Dataset research and selection</a:t>
            </a:r>
            <a:endParaRPr lang="en-US" sz="1600">
              <a:solidFill>
                <a:schemeClr val="accent6"/>
              </a:solidFill>
            </a:endParaRPr>
          </a:p>
          <a:p>
            <a:pPr>
              <a:buFont typeface="Wingdings" panose="020B0604020202020204" pitchFamily="34" charset="0"/>
              <a:buChar char="ü"/>
            </a:pPr>
            <a:r>
              <a:rPr lang="en-US" sz="1600">
                <a:solidFill>
                  <a:schemeClr val="accent6"/>
                </a:solidFill>
                <a:ea typeface="+mn-lt"/>
                <a:cs typeface="+mn-lt"/>
              </a:rPr>
              <a:t>Data collection from multiple sources</a:t>
            </a:r>
            <a:endParaRPr lang="en-US" sz="1600">
              <a:solidFill>
                <a:schemeClr val="accent6"/>
              </a:solidFill>
            </a:endParaRPr>
          </a:p>
          <a:p>
            <a:pPr>
              <a:buFont typeface="Wingdings" panose="020B0604020202020204" pitchFamily="34" charset="0"/>
              <a:buChar char="ü"/>
            </a:pPr>
            <a:r>
              <a:rPr lang="en-US" sz="1600">
                <a:solidFill>
                  <a:schemeClr val="accent6"/>
                </a:solidFill>
                <a:ea typeface="+mn-lt"/>
                <a:cs typeface="+mn-lt"/>
              </a:rPr>
              <a:t>Document standardization</a:t>
            </a:r>
            <a:endParaRPr lang="en-US" sz="1600">
              <a:solidFill>
                <a:schemeClr val="accent6"/>
              </a:solidFill>
            </a:endParaRPr>
          </a:p>
          <a:p>
            <a:pPr>
              <a:buFont typeface="Wingdings" panose="020B0604020202020204" pitchFamily="34" charset="0"/>
              <a:buChar char="ü"/>
            </a:pPr>
            <a:r>
              <a:rPr lang="en-US" sz="1600">
                <a:solidFill>
                  <a:schemeClr val="accent6"/>
                </a:solidFill>
                <a:ea typeface="+mn-lt"/>
                <a:cs typeface="+mn-lt"/>
              </a:rPr>
              <a:t>Controlled data augmentation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1600">
                <a:solidFill>
                  <a:schemeClr val="accent6"/>
                </a:solidFill>
                <a:ea typeface="+mn-lt"/>
                <a:cs typeface="+mn-lt"/>
              </a:rPr>
              <a:t>Ground truth generation</a:t>
            </a:r>
            <a:endParaRPr lang="en-US" sz="1600">
              <a:solidFill>
                <a:schemeClr val="accent6"/>
              </a:solidFill>
            </a:endParaRPr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Prepared dataset enables:</a:t>
            </a:r>
            <a:endParaRPr lang="en-US" sz="1600"/>
          </a:p>
          <a:p>
            <a:pPr>
              <a:buFont typeface="Wingdings" panose="020B0604020202020204" pitchFamily="34" charset="0"/>
              <a:buChar char="ü"/>
            </a:pPr>
            <a:r>
              <a:rPr lang="en-US" sz="1600">
                <a:solidFill>
                  <a:schemeClr val="accent6"/>
                </a:solidFill>
                <a:ea typeface="+mn-lt"/>
                <a:cs typeface="+mn-lt"/>
              </a:rPr>
              <a:t>Entity extraction evaluation</a:t>
            </a:r>
            <a:endParaRPr lang="en-US" sz="1600">
              <a:solidFill>
                <a:schemeClr val="accent6"/>
              </a:solidFill>
            </a:endParaRPr>
          </a:p>
          <a:p>
            <a:pPr>
              <a:buFont typeface="Wingdings" panose="020B0604020202020204" pitchFamily="34" charset="0"/>
              <a:buChar char="ü"/>
            </a:pPr>
            <a:r>
              <a:rPr lang="en-US" sz="1600">
                <a:solidFill>
                  <a:schemeClr val="accent6"/>
                </a:solidFill>
                <a:ea typeface="+mn-lt"/>
                <a:cs typeface="+mn-lt"/>
              </a:rPr>
              <a:t>Cross-document validation experiments</a:t>
            </a:r>
            <a:endParaRPr lang="en-US" sz="1600">
              <a:solidFill>
                <a:schemeClr val="accent6"/>
              </a:solidFill>
            </a:endParaRPr>
          </a:p>
          <a:p>
            <a:pPr>
              <a:buNone/>
            </a:pPr>
            <a:endParaRPr lang="en-US" sz="1600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AF6EF-940D-2240-1A89-480186D9D122}"/>
              </a:ext>
            </a:extLst>
          </p:cNvPr>
          <p:cNvSpPr/>
          <p:nvPr/>
        </p:nvSpPr>
        <p:spPr>
          <a:xfrm>
            <a:off x="443458" y="405984"/>
            <a:ext cx="11305081" cy="6046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33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59CD96A-C5B4-3722-632D-F5CF73CE0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49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 Milestone Objective</vt:lpstr>
      <vt:lpstr>Dataset Overview</vt:lpstr>
      <vt:lpstr>FUNSD Dataset</vt:lpstr>
      <vt:lpstr>FUNSD DATA PREPARATION</vt:lpstr>
      <vt:lpstr>FUNSD Data Augmentation</vt:lpstr>
      <vt:lpstr>SBC Dataset</vt:lpstr>
      <vt:lpstr>SBC Data Collection</vt:lpstr>
      <vt:lpstr>Benefit Grid Creation</vt:lpstr>
      <vt:lpstr>Document Pair Structure</vt:lpstr>
      <vt:lpstr>Data Augmentation (Benefit Grid)</vt:lpstr>
      <vt:lpstr>Augmentation Types</vt:lpstr>
      <vt:lpstr>Ground Truth JSON Creation</vt:lpstr>
      <vt:lpstr>Validation Scenarios Covered</vt:lpstr>
      <vt:lpstr>Dataset Output</vt:lpstr>
      <vt:lpstr>Challenges Faced</vt:lpstr>
      <vt:lpstr>Team Contributions</vt:lpstr>
      <vt:lpstr>Milestone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2026-03-07T07:37:18Z</dcterms:created>
  <dcterms:modified xsi:type="dcterms:W3CDTF">2026-03-07T09:29:07Z</dcterms:modified>
</cp:coreProperties>
</file>